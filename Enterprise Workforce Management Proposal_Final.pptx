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08014"/>
            <a:ext cx="2167086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2684264"/>
            <a:ext cx="11715750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Enterprise Workforce</a:t>
            </a:r>
            <a:r>
              <a:t>
</a:t>
            </a:r>
            <a:r>
              <a:rPr b="1" sz="3900" i="0" u="none">
                <a:solidFill>
                  <a:srgbClr val="FFFFFF"/>
                </a:solidFill>
                <a:latin typeface="Plus Jakarta Sans"/>
              </a:rPr>
              <a:t> Management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3994844"/>
            <a:ext cx="838200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b="0" sz="1575" i="0" u="none">
                <a:solidFill>
                  <a:srgbClr val="94A3B8"/>
                </a:solidFill>
                <a:latin typeface="Inter"/>
              </a:rPr>
              <a:t>Phase 1 Proposal: In-House Scheduling Engine, SDLC Blueprint, Required Timeline &amp; Stakeholder Expectations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2293739"/>
            <a:ext cx="149423" cy="1285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2733675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55494" y="2962275"/>
            <a:ext cx="8081010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Strategic Context &amp;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676650"/>
            <a:ext cx="71437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Transitioning from manual, spreadsheet-driven operations to a centralized enterprise scheduling engine.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397918"/>
            <a:ext cx="5505450" cy="265271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397918"/>
            <a:ext cx="5505450" cy="26527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636043"/>
            <a:ext cx="22860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2978943"/>
            <a:ext cx="52806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DC2626"/>
                </a:solidFill>
                <a:latin typeface="Plus Jakarta Sans SemiBold"/>
              </a:rPr>
              <a:t>Current Operational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3283743"/>
            <a:ext cx="50292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334155"/>
                </a:solidFill>
                <a:latin typeface="Inter"/>
              </a:rPr>
              <a:t>Spreadsheet Reliance:</a:t>
            </a:r>
            <a:r>
              <a:rPr b="0" sz="1087" i="0" u="none">
                <a:solidFill>
                  <a:srgbClr val="334155"/>
                </a:solidFill>
                <a:latin typeface="Inter"/>
              </a:rPr>
              <a:t> Decentralized Excel planning causes scheduling conflicts and manual calculation errors across sites.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" y="3793331"/>
            <a:ext cx="50292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334155"/>
                </a:solidFill>
                <a:latin typeface="Inter"/>
              </a:rPr>
              <a:t>High Recurring Cost:</a:t>
            </a:r>
            <a:r>
              <a:rPr b="0" sz="1087" i="0" u="none">
                <a:solidFill>
                  <a:srgbClr val="334155"/>
                </a:solidFill>
                <a:latin typeface="Inter"/>
              </a:rPr>
              <a:t> Expensive per-seat vendor license fees for legacy third-party tools like NICE &amp; Verint.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4302918"/>
            <a:ext cx="50292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334155"/>
                </a:solidFill>
                <a:latin typeface="Inter"/>
              </a:rPr>
              <a:t>Data Fragmentation:</a:t>
            </a:r>
            <a:r>
              <a:rPr b="0" sz="1087" i="0" u="none">
                <a:solidFill>
                  <a:srgbClr val="334155"/>
                </a:solidFill>
                <a:latin typeface="Inter"/>
              </a:rPr>
              <a:t> Lack of a single source of truth for rosters, skills, and leave tracking.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2636043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8425" y="2978943"/>
            <a:ext cx="52806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16A34A"/>
                </a:solidFill>
                <a:latin typeface="Plus Jakarta Sans SemiBold"/>
              </a:rPr>
              <a:t>Strategic In-House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3283743"/>
            <a:ext cx="50292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334155"/>
                </a:solidFill>
                <a:latin typeface="Inter"/>
              </a:rPr>
              <a:t>Centralized WFM Platform:</a:t>
            </a:r>
            <a:r>
              <a:rPr b="0" sz="1087" i="0" u="none">
                <a:solidFill>
                  <a:srgbClr val="334155"/>
                </a:solidFill>
                <a:latin typeface="Inter"/>
              </a:rPr>
              <a:t> Unified system for roster creation, shift planning, and real-time coverage tracking.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3793331"/>
            <a:ext cx="50292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334155"/>
                </a:solidFill>
                <a:latin typeface="Inter"/>
              </a:rPr>
              <a:t>Zero Seat Licensing:</a:t>
            </a:r>
            <a:r>
              <a:rPr b="0" sz="1087" i="0" u="none">
                <a:solidFill>
                  <a:srgbClr val="334155"/>
                </a:solidFill>
                <a:latin typeface="Inter"/>
              </a:rPr>
              <a:t> Fully owned software IP with zero recurring per-agent vendor subscription costs.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4302918"/>
            <a:ext cx="50292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334155"/>
                </a:solidFill>
                <a:latin typeface="Inter"/>
              </a:rPr>
              <a:t>AI-Ready Foundation:</a:t>
            </a:r>
            <a:r>
              <a:rPr b="0" sz="1087" i="0" u="none">
                <a:solidFill>
                  <a:srgbClr val="334155"/>
                </a:solidFill>
                <a:latin typeface="Inter"/>
              </a:rPr>
              <a:t> Clean structured data architecture prepared for Phase 2 automated ML forecasting.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" y="381000"/>
            <a:ext cx="11715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Business Opportunity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489596"/>
            <a:ext cx="5505450" cy="246935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489596"/>
            <a:ext cx="5505450" cy="24693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4130278"/>
            <a:ext cx="5029200" cy="590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4130278"/>
            <a:ext cx="5029200" cy="590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727721"/>
            <a:ext cx="2476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4375" y="3089671"/>
            <a:ext cx="52806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2563EB"/>
                </a:solidFill>
                <a:latin typeface="Plus Jakarta Sans SemiBold"/>
              </a:rPr>
              <a:t>Operational Speed &amp;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3394471"/>
            <a:ext cx="502920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334155"/>
                </a:solidFill>
                <a:latin typeface="Inter"/>
              </a:rPr>
              <a:t>Compress roster creation timelines from multiple days down to hours. Planners receive dynamic templates, automated validation, and instant publish capabilities.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2727721"/>
            <a:ext cx="2476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8425" y="3089671"/>
            <a:ext cx="52806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2563EB"/>
                </a:solidFill>
                <a:latin typeface="Plus Jakarta Sans SemiBold"/>
              </a:rPr>
              <a:t>Cost &amp; Governance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3394471"/>
            <a:ext cx="502920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334155"/>
                </a:solidFill>
                <a:latin typeface="Inter"/>
              </a:rPr>
              <a:t>Eliminate external software licenses while providing full audit trails, role-based access control, and centralized coverage tracking across all operational units.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4244578"/>
            <a:ext cx="666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2563EB"/>
                </a:solidFill>
                <a:latin typeface="Plus Jakarta Sans"/>
              </a:rPr>
              <a:t>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7825" y="4349353"/>
            <a:ext cx="3362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12" i="0" u="none">
                <a:solidFill>
                  <a:srgbClr val="1E3A8A"/>
                </a:solidFill>
                <a:latin typeface="Inter Medium"/>
              </a:rPr>
              <a:t>Reduction in manual spreadsheet scheduling overhead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825" y="4244578"/>
            <a:ext cx="8096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2563EB"/>
                </a:solidFill>
                <a:latin typeface="Plus Jakarta Sans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0" y="4349353"/>
            <a:ext cx="3695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12" i="0" u="none">
                <a:solidFill>
                  <a:srgbClr val="1E3A8A"/>
                </a:solidFill>
                <a:latin typeface="Inter Medium"/>
              </a:rPr>
              <a:t>Owned IP platform with zero third-party per-agent seat fees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" y="381000"/>
            <a:ext cx="11715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Core Objectives &amp; Value Drivers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2733675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85536" y="2962275"/>
            <a:ext cx="7420927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SDLC Architecture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676650"/>
            <a:ext cx="71437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b="0" sz="1425" i="0" u="none">
                <a:solidFill>
                  <a:srgbClr val="94A3B8"/>
                </a:solidFill>
                <a:latin typeface="Inter"/>
              </a:rPr>
              <a:t>End-to-End Software Development Life Cycle methodology, stack, and functional modules.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519064"/>
            <a:ext cx="3644800" cy="112901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450" y="2519064"/>
            <a:ext cx="3644949" cy="11290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800" y="2519064"/>
            <a:ext cx="3644800" cy="11290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800475"/>
            <a:ext cx="3644800" cy="11290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3450" y="3800475"/>
            <a:ext cx="3644949" cy="112901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800" y="3800475"/>
            <a:ext cx="3644800" cy="11290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2709564"/>
            <a:ext cx="3246968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62" i="0" u="none">
                <a:solidFill>
                  <a:srgbClr val="0F172A"/>
                </a:solidFill>
                <a:latin typeface="Plus Jakarta Sans"/>
              </a:rPr>
              <a:t>1. Requirements &amp;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" y="2947689"/>
            <a:ext cx="3282850" cy="53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Eliciting business rules, shift structures, leave policies, and site hierarchies. Creating Business Requirement Documents (BRD) &amp; Functional Specs.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2550" y="2709564"/>
            <a:ext cx="3197118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62" i="0" u="none">
                <a:solidFill>
                  <a:srgbClr val="0F172A"/>
                </a:solidFill>
                <a:latin typeface="Plus Jakarta Sans"/>
              </a:rPr>
              <a:t>2. 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4425" y="2947689"/>
            <a:ext cx="3282999" cy="53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Designing database schemas in SQL Server, UI/UX wireframes/prototypes for scheduling canvas, and defining RBAC security controls.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8950" y="2709564"/>
            <a:ext cx="3176959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62" i="0" u="none">
                <a:solidFill>
                  <a:srgbClr val="0F172A"/>
                </a:solidFill>
                <a:latin typeface="Plus Jakarta Sans"/>
              </a:rPr>
              <a:t>3. Iterative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1775" y="2947689"/>
            <a:ext cx="3282850" cy="53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Sprint-based engineering in .NET MVC (C#) &amp; HTML5/jQuery UI. Building user roles, roster master, capacity planner, and rule engines.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990975"/>
            <a:ext cx="3206963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62" i="0" u="none">
                <a:solidFill>
                  <a:srgbClr val="0F172A"/>
                </a:solidFill>
                <a:latin typeface="Plus Jakarta Sans"/>
              </a:rPr>
              <a:t>4. Testing &amp; Quality Assurance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" y="4229100"/>
            <a:ext cx="3282850" cy="53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Unit testing, system integration testing (SIT), security VPTA vulnerability audits, load testing, and formal User Acceptance Testing (UAT).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3025" y="3990975"/>
            <a:ext cx="3207119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62" i="0" u="none">
                <a:solidFill>
                  <a:srgbClr val="0F172A"/>
                </a:solidFill>
                <a:latin typeface="Plus Jakarta Sans"/>
              </a:rPr>
              <a:t>5. Deployment &amp; Cutover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4425" y="4229100"/>
            <a:ext cx="3282999" cy="53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Production environment provisioning on IIS, database migration, CI/CD automated release cutover, and planner end-user onboarding.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0375" y="3990975"/>
            <a:ext cx="3206963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62" i="0" u="none">
                <a:solidFill>
                  <a:srgbClr val="0F172A"/>
                </a:solidFill>
                <a:latin typeface="Plus Jakarta Sans"/>
              </a:rPr>
              <a:t>6. Maintenance &amp; Hypercare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1775" y="4229100"/>
            <a:ext cx="3282850" cy="53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Post-launch 30-day hypercare support, performance monitoring, bug fixes, and transitioning platform baseline to Phase 2 AI/ML roadmap.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2726233"/>
            <a:ext cx="114300" cy="147637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425" y="2726233"/>
            <a:ext cx="161925" cy="147637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1775" y="2726233"/>
            <a:ext cx="180975" cy="147637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4007643"/>
            <a:ext cx="152400" cy="147637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4425" y="4007643"/>
            <a:ext cx="152400" cy="147637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51775" y="4007643"/>
            <a:ext cx="152400" cy="14763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76250" y="381000"/>
            <a:ext cx="11715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Software Development Life Cycle (SDLC)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614612"/>
            <a:ext cx="3632150" cy="22193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850" y="2614612"/>
            <a:ext cx="3632150" cy="2219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450" y="2614612"/>
            <a:ext cx="3632150" cy="2219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2833687"/>
            <a:ext cx="419100" cy="41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5325" y="3386137"/>
            <a:ext cx="33537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F172A"/>
                </a:solidFill>
                <a:latin typeface="Plus Jakarta Sans SemiBold"/>
              </a:rPr>
              <a:t>1. User &amp; Org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3690937"/>
            <a:ext cx="31940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334155"/>
                </a:solidFill>
                <a:latin typeface="Inter"/>
              </a:rPr>
              <a:t>Role-based access (RBAC), domain single sign-on (SSO), hierarchical modeling for LOBs, operational sites, skill matrix, and site calendars.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925" y="2833687"/>
            <a:ext cx="419100" cy="41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98925" y="3386137"/>
            <a:ext cx="33537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F172A"/>
                </a:solidFill>
                <a:latin typeface="Plus Jakarta Sans SemiBold"/>
              </a:rPr>
              <a:t>2. Roster &amp; Capacity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925" y="3690937"/>
            <a:ext cx="31940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334155"/>
                </a:solidFill>
                <a:latin typeface="Inter"/>
              </a:rPr>
              <a:t>Employee master import, skill tagging, leave approvals, capacity planning workspace, FTE requirement modeling, and shift assignment templates.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525" y="2833687"/>
            <a:ext cx="419100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02525" y="3386137"/>
            <a:ext cx="33537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F172A"/>
                </a:solidFill>
                <a:latin typeface="Plus Jakarta Sans SemiBold"/>
              </a:rPr>
              <a:t>3. Builder UI &amp;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525" y="3690937"/>
            <a:ext cx="31940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334155"/>
                </a:solidFill>
                <a:latin typeface="Inter"/>
              </a:rPr>
              <a:t>Interactive drag-and-drop schedule builder, version locking/history, real-time staffing coverage, agent utilization, and system audit logging.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938462"/>
            <a:ext cx="26670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987" y="2938462"/>
            <a:ext cx="18097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3013" y="2938462"/>
            <a:ext cx="238125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6250" y="381000"/>
            <a:ext cx="11715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Phase 1 Functional Modules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76250" y="2380059"/>
          <a:ext cx="11220448" cy="2688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05557"/>
                <a:gridCol w="2549574"/>
                <a:gridCol w="7065317"/>
              </a:tblGrid>
              <a:tr h="448071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Architecture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Selected Technology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Technical Rationale &amp; Capability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48071"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334155"/>
                          </a:solidFill>
                          <a:latin typeface="Inter"/>
                        </a:rPr>
                        <a:t>Application 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Inter"/>
                        </a:rPr>
                        <a:t>.NET MVC Framework (C#)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Inter"/>
                        </a:rPr>
                        <a:t>High-performance enterprise backend with robust MVC architecture and security controls.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8071"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334155"/>
                          </a:solidFill>
                          <a:latin typeface="Inter"/>
                        </a:rPr>
                        <a:t>User Interface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Inter"/>
                        </a:rPr>
                        <a:t>Custom UX / jQuery / HTML5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Inter"/>
                        </a:rPr>
                        <a:t>Fast, responsive interactive scheduling canvas with minimal footprint and high client compatibility.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48071"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334155"/>
                          </a:solidFill>
                          <a:latin typeface="Inter"/>
                        </a:rPr>
                        <a:t>Database Engine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Inter"/>
                        </a:rPr>
                        <a:t>Microsoft SQL Server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Inter"/>
                        </a:rPr>
                        <a:t>Relational data integrity, high-throughput transactional processing, and enterprise audit capabilities.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8071"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334155"/>
                          </a:solidFill>
                          <a:latin typeface="Inter"/>
                        </a:rPr>
                        <a:t>Web Hosting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Inter"/>
                        </a:rPr>
                        <a:t>Internet Information Services (IIS)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Inter"/>
                        </a:rPr>
                        <a:t>Hardened Windows Server hosting with Windows Authentication integration and SSL termination.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48076"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334155"/>
                          </a:solidFill>
                          <a:latin typeface="Inter"/>
                        </a:rPr>
                        <a:t>DevOps &amp; Source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Inter"/>
                        </a:rPr>
                        <a:t>Azure DevOps / Git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Inter"/>
                        </a:rPr>
                        <a:t>Automated CI/CD release pipelines, backlog management, and secure central code repository.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485775" y="2832496"/>
            <a:ext cx="16055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91332" y="2832496"/>
            <a:ext cx="25495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40907" y="2832496"/>
            <a:ext cx="70653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5775" y="3277790"/>
            <a:ext cx="16055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91332" y="3277790"/>
            <a:ext cx="25495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40907" y="3277790"/>
            <a:ext cx="70653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5775" y="3723084"/>
            <a:ext cx="16055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91332" y="3723084"/>
            <a:ext cx="25495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40907" y="3723084"/>
            <a:ext cx="70653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5775" y="4168378"/>
            <a:ext cx="16055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91332" y="4168378"/>
            <a:ext cx="25495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40907" y="4168378"/>
            <a:ext cx="70653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5775" y="4613671"/>
            <a:ext cx="16055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91332" y="4613671"/>
            <a:ext cx="25495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40907" y="4613671"/>
            <a:ext cx="70653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6250" y="381000"/>
            <a:ext cx="11715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Technology Stack Blueprint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2733675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05513" y="2962275"/>
            <a:ext cx="7780972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Required Timeline &amp;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676650"/>
            <a:ext cx="71437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b="0" sz="1425" i="0" u="none">
                <a:solidFill>
                  <a:srgbClr val="94A3B8"/>
                </a:solidFill>
                <a:latin typeface="Inter"/>
              </a:rPr>
              <a:t>Detailed schedule duration, milestone gates, resource commitments, and stakeholder success criteria.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3933825"/>
            <a:ext cx="2584995" cy="132159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985" y="2193131"/>
            <a:ext cx="2584995" cy="13215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721" y="3933825"/>
            <a:ext cx="2584995" cy="13215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456" y="2193131"/>
            <a:ext cx="2584995" cy="13215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6250" y="3705225"/>
            <a:ext cx="112395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175" y="4095750"/>
            <a:ext cx="237420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2563EB"/>
                </a:solidFill>
                <a:latin typeface="Plus Jakarta Sans SemiBold"/>
              </a:rPr>
              <a:t>Month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" y="4362450"/>
            <a:ext cx="226114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975" i="0" u="none">
                <a:solidFill>
                  <a:srgbClr val="334155"/>
                </a:solidFill>
                <a:latin typeface="Inter"/>
              </a:rPr>
              <a:t>Requirements &amp; Architecture: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BRD creation, DB schema, UI/UX prototypes &amp; CI/CD setup.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4920257"/>
            <a:ext cx="226114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2563EB"/>
                </a:solidFill>
                <a:latin typeface="Inter SemiBold"/>
              </a:rPr>
              <a:t>Gate 1: Specs Sign-off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2910" y="2355056"/>
            <a:ext cx="237420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2563EB"/>
                </a:solidFill>
                <a:latin typeface="Plus Jakarta Sans SemiBold"/>
              </a:rPr>
              <a:t>Months 2–7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2910" y="2621756"/>
            <a:ext cx="226114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975" i="0" u="none">
                <a:solidFill>
                  <a:srgbClr val="334155"/>
                </a:solidFill>
                <a:latin typeface="Inter"/>
              </a:rPr>
              <a:t>Sprint Engineering: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12 bi-weekly sprints building Org Hierarchy, Roster Master &amp; Builder UI.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2910" y="3179564"/>
            <a:ext cx="226114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2563EB"/>
                </a:solidFill>
                <a:latin typeface="Inter SemiBold"/>
              </a:rPr>
              <a:t>Gate 2: Code Freeze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7646" y="4095750"/>
            <a:ext cx="237420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2563EB"/>
                </a:solidFill>
                <a:latin typeface="Plus Jakarta Sans SemiBold"/>
              </a:rPr>
              <a:t>Months 8–9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7646" y="4362450"/>
            <a:ext cx="226114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975" i="0" u="none">
                <a:solidFill>
                  <a:srgbClr val="334155"/>
                </a:solidFill>
                <a:latin typeface="Inter"/>
              </a:rPr>
              <a:t>QA, Security &amp; Cutover: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SIT execution, VPTA penetration test, business UAT &amp; IIS go-live.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7646" y="4920257"/>
            <a:ext cx="226114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2563EB"/>
                </a:solidFill>
                <a:latin typeface="Inter SemiBold"/>
              </a:rPr>
              <a:t>Gate 3: Production Go-Live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2381" y="2355056"/>
            <a:ext cx="237420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2563EB"/>
                </a:solidFill>
                <a:latin typeface="Plus Jakarta Sans SemiBold"/>
              </a:rPr>
              <a:t>Post 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2381" y="2621756"/>
            <a:ext cx="226114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975" i="0" u="none">
                <a:solidFill>
                  <a:srgbClr val="334155"/>
                </a:solidFill>
                <a:latin typeface="Inter"/>
              </a:rPr>
              <a:t>Hypercare &amp; Handoff: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30-day post go-live operational support, team training &amp; AI roadmap.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2381" y="3179564"/>
            <a:ext cx="226114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2563EB"/>
                </a:solidFill>
                <a:latin typeface="Inter SemiBold"/>
              </a:rPr>
              <a:t>Gate 4: Operational Sign-off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" y="381000"/>
            <a:ext cx="11715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Required Timeline &amp; Critical Milestones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83022" y="36385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67758" y="36385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52493" y="36385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37229" y="36385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883693"/>
            <a:ext cx="3644800" cy="168116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450" y="2883693"/>
            <a:ext cx="3644949" cy="16811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800" y="2883693"/>
            <a:ext cx="3644800" cy="16811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7225" y="3045618"/>
            <a:ext cx="3446993" cy="180975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From Executive Leadership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4425" y="3045618"/>
            <a:ext cx="3447149" cy="180975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From WFM Operations SMEs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1775" y="3045618"/>
            <a:ext cx="3446993" cy="180975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From IT &amp; Infrastructure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3074193"/>
            <a:ext cx="142875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7725" y="3302793"/>
            <a:ext cx="30923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Budget sign-off for Phase 1 execution (₹1.50–2.50 Cr).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731418"/>
            <a:ext cx="30923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Sponsorship for organizational change management.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160043"/>
            <a:ext cx="30923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Approval of dedicated project steering committee.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425" y="3074193"/>
            <a:ext cx="180975" cy="142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44925" y="3302793"/>
            <a:ext cx="309249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10–12 hrs/week time commitment in Month 1 for BRD rules.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4925" y="3731418"/>
            <a:ext cx="3092499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Bi-weekly sprint review attendance &amp; feedback.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4925" y="3974306"/>
            <a:ext cx="309249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Full-time involvement during Month 8 UAT execution.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1775" y="3074193"/>
            <a:ext cx="142875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42275" y="3302793"/>
            <a:ext cx="30923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SQL Server &amp; Windows IIS VM provisioning in Month 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2275" y="3731418"/>
            <a:ext cx="30923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Domain Active Directory (SSO) integration support.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2275" y="3974306"/>
            <a:ext cx="30923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Security architecture &amp; VPTA audit clearing.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" y="381000"/>
            <a:ext cx="11715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Stakeholder Expectations &amp; Commitments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312318"/>
            <a:ext cx="123825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740943"/>
            <a:ext cx="123825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4169568"/>
            <a:ext cx="123825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425" y="3312318"/>
            <a:ext cx="123825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425" y="3740943"/>
            <a:ext cx="123825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425" y="3983831"/>
            <a:ext cx="123825" cy="1333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1775" y="3312318"/>
            <a:ext cx="123825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1775" y="3740943"/>
            <a:ext cx="123825" cy="1333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1775" y="3983831"/>
            <a:ext cx="12382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463403"/>
            <a:ext cx="3632150" cy="252174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850" y="2463403"/>
            <a:ext cx="3632150" cy="25217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450" y="2463403"/>
            <a:ext cx="3632150" cy="25217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2682478"/>
            <a:ext cx="419100" cy="41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5325" y="3234928"/>
            <a:ext cx="33537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F172A"/>
                </a:solidFill>
                <a:latin typeface="Plus Jakarta Sans SemiBold"/>
              </a:rPr>
              <a:t>Operational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3539728"/>
            <a:ext cx="31940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334155"/>
                </a:solidFill>
                <a:latin typeface="Inter"/>
              </a:rPr>
              <a:t>Expectation:</a:t>
            </a:r>
            <a:r>
              <a:rPr b="0" sz="1087" i="0" u="none">
                <a:solidFill>
                  <a:srgbClr val="334155"/>
                </a:solidFill>
                <a:latin typeface="Inter"/>
              </a:rPr>
              <a:t> Roster creation time reduced from 3 days to under 4 hours per planning cycle.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4049315"/>
            <a:ext cx="31940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334155"/>
                </a:solidFill>
                <a:latin typeface="Inter"/>
              </a:rPr>
              <a:t>Metric:</a:t>
            </a:r>
            <a:r>
              <a:rPr b="0" sz="1087" i="0" u="none">
                <a:solidFill>
                  <a:srgbClr val="334155"/>
                </a:solidFill>
                <a:latin typeface="Inter"/>
              </a:rPr>
              <a:t> 90% savings in planner labor hours across operational units.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925" y="2682478"/>
            <a:ext cx="419100" cy="419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98925" y="3234928"/>
            <a:ext cx="33537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F172A"/>
                </a:solidFill>
                <a:latin typeface="Plus Jakarta Sans SemiBold"/>
              </a:rPr>
              <a:t>Data &amp; Compliance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925" y="3539728"/>
            <a:ext cx="319400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334155"/>
                </a:solidFill>
                <a:latin typeface="Inter"/>
              </a:rPr>
              <a:t>Expectation:</a:t>
            </a:r>
            <a:r>
              <a:rPr b="0" sz="1087" i="0" u="none">
                <a:solidFill>
                  <a:srgbClr val="334155"/>
                </a:solidFill>
                <a:latin typeface="Inter"/>
              </a:rPr>
              <a:t> 100% elimination of spreadsheet formula errors and unauthorized schedule overrides.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925" y="4256484"/>
            <a:ext cx="31940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334155"/>
                </a:solidFill>
                <a:latin typeface="Inter"/>
              </a:rPr>
              <a:t>Metric:</a:t>
            </a:r>
            <a:r>
              <a:rPr b="0" sz="1087" i="0" u="none">
                <a:solidFill>
                  <a:srgbClr val="334155"/>
                </a:solidFill>
                <a:latin typeface="Inter"/>
              </a:rPr>
              <a:t> Complete audit trails and zero compliance non-conformances.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525" y="2682478"/>
            <a:ext cx="419100" cy="419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02525" y="3234928"/>
            <a:ext cx="33537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F172A"/>
                </a:solidFill>
                <a:latin typeface="Plus Jakarta Sans SemiBold"/>
              </a:rPr>
              <a:t>Financial Return (ROI)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525" y="3539728"/>
            <a:ext cx="31940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334155"/>
                </a:solidFill>
                <a:latin typeface="Inter"/>
              </a:rPr>
              <a:t>Expectation:</a:t>
            </a:r>
            <a:r>
              <a:rPr b="0" sz="1087" i="0" u="none">
                <a:solidFill>
                  <a:srgbClr val="334155"/>
                </a:solidFill>
                <a:latin typeface="Inter"/>
              </a:rPr>
              <a:t> Total elimination of 3rd-party per-seat vendor licensing subscriptions.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525" y="4049315"/>
            <a:ext cx="31940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334155"/>
                </a:solidFill>
                <a:latin typeface="Inter"/>
              </a:rPr>
              <a:t>Metric:</a:t>
            </a:r>
            <a:r>
              <a:rPr b="0" sz="1087" i="0" u="none">
                <a:solidFill>
                  <a:srgbClr val="334155"/>
                </a:solidFill>
                <a:latin typeface="Inter"/>
              </a:rPr>
              <a:t> Full capital cost payback expected within 14 months of go-live.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787253"/>
            <a:ext cx="20955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7300" y="2787253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6250" y="381000"/>
            <a:ext cx="11715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Project Success Criteria &amp; Expectations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4710112"/>
            <a:ext cx="11239500" cy="3524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971550"/>
            <a:ext cx="11239500" cy="5505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381000"/>
            <a:ext cx="11715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Phase 1 Investment Breakdown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6250" y="2502693"/>
            <a:ext cx="9525000" cy="700087"/>
          </a:xfrm>
          <a:prstGeom prst="roundRect">
            <a:avLst>
              <a:gd name="adj" fmla="val 13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1550" y="2636043"/>
            <a:ext cx="8858250" cy="433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334155"/>
                </a:solidFill>
                <a:latin typeface="Inter"/>
              </a:rPr>
              <a:t>Dedicated Cross-Functional SDLC Team (15 Headcount):</a:t>
            </a:r>
            <a:r>
              <a:rPr b="0" sz="1087" i="0" u="none">
                <a:solidFill>
                  <a:srgbClr val="334155"/>
                </a:solidFill>
                <a:latin typeface="Inter"/>
              </a:rPr>
              <a:t> 1 Project Manager, 1 Product Owner, 1 Solution Architect, 1 Tech Lead, 4 .NET Developers, 2 Frontend Developers, 2 QA Engineers, 1 DevOps Engineer, 1 UI/UX Designer.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6250" y="3317081"/>
            <a:ext cx="9525000" cy="700087"/>
          </a:xfrm>
          <a:prstGeom prst="roundRect">
            <a:avLst>
              <a:gd name="adj" fmla="val 13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" y="3450431"/>
            <a:ext cx="8858250" cy="433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334155"/>
                </a:solidFill>
                <a:latin typeface="Inter"/>
              </a:rPr>
              <a:t>Requirements &amp; Testing SMEs:</a:t>
            </a:r>
            <a:r>
              <a:rPr b="0" sz="1087" i="0" u="none">
                <a:solidFill>
                  <a:srgbClr val="334155"/>
                </a:solidFill>
                <a:latin typeface="Inter"/>
              </a:rPr>
              <a:t> Dedicated WFM Operations SMEs for business rules elicitation &amp; UAT validation; HR/Operations leads for site hierarchy alignment.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6250" y="4131468"/>
            <a:ext cx="9525000" cy="700087"/>
          </a:xfrm>
          <a:prstGeom prst="roundRect">
            <a:avLst>
              <a:gd name="adj" fmla="val 13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4264818"/>
            <a:ext cx="8858250" cy="433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334155"/>
                </a:solidFill>
                <a:latin typeface="Inter"/>
              </a:rPr>
              <a:t>IT &amp; Security Governance:</a:t>
            </a:r>
            <a:r>
              <a:rPr b="0" sz="1087" i="0" u="none">
                <a:solidFill>
                  <a:srgbClr val="334155"/>
                </a:solidFill>
                <a:latin typeface="Inter"/>
              </a:rPr>
              <a:t> DBA support for SQL Server provisioning, Infrastructure team for IIS deployment, and Security Team for VPTA audit.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" y="3193256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6250" y="4007643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6250" y="4822031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659856"/>
            <a:ext cx="219075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3474243"/>
            <a:ext cx="219075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4288631"/>
            <a:ext cx="171450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6250" y="381000"/>
            <a:ext cx="11715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Team Structure &amp; Governance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062" y="2219325"/>
            <a:ext cx="8143875" cy="4381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8125" y="381000"/>
            <a:ext cx="117157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Plus Jakarta Sans"/>
              </a:rPr>
              <a:t>Executive Decision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1219200"/>
            <a:ext cx="112395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62"/>
              </a:lnSpc>
            </a:pPr>
            <a:r>
              <a:rPr b="0" sz="1575" i="0" u="none">
                <a:solidFill>
                  <a:srgbClr val="CBD5E1"/>
                </a:solidFill>
                <a:latin typeface="Inter"/>
              </a:rPr>
              <a:t>Approval requested for Phase 1 budget (₹1.50–2.50 Cr), required 9-month schedule, team allocation, and stakeholder commitments.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337" y="236220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