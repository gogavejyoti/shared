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exandria ExtraBold"/>
      <p:regular r:id="rId201314"/>
    </p:embeddedFont>
    <p:embeddedFont>
      <p:font typeface="Alexandria Thin"/>
      <p:regular r:id="rId201315"/>
    </p:embeddedFont>
    <p:embeddedFont>
      <p:font typeface="Alexandria ExtraLight"/>
      <p:regular r:id="rId201316"/>
    </p:embeddedFont>
    <p:embeddedFont>
      <p:font typeface="Alexandria Light"/>
      <p:regular r:id="rId201317"/>
    </p:embeddedFont>
    <p:embeddedFont>
      <p:font typeface="Alexandria"/>
      <p:regular r:id="rId201318"/>
    </p:embeddedFont>
    <p:embeddedFont>
      <p:font typeface="Alexandria Medium"/>
      <p:regular r:id="rId201319"/>
    </p:embeddedFont>
    <p:embeddedFont>
      <p:font typeface="Alexandria SemiBold"/>
      <p:regular r:id="rId201320"/>
    </p:embeddedFont>
    <p:embeddedFont>
      <p:font typeface="Alexandria Bold"/>
      <p:regular r:id="rId201321"/>
    </p:embeddedFont>
    <p:embeddedFont>
      <p:font typeface="Alexandria Black"/>
      <p:regular r:id="rId201322"/>
    </p:embeddedFont>
    <p:embeddedFont>
      <p:font typeface="Manrope ExtraLight"/>
      <p:regular r:id="rId201323"/>
    </p:embeddedFont>
    <p:embeddedFont>
      <p:font typeface="Manrope Light"/>
      <p:regular r:id="rId201324"/>
    </p:embeddedFont>
    <p:embeddedFont>
      <p:font typeface="Manrope"/>
      <p:regular r:id="rId201325"/>
    </p:embeddedFont>
    <p:embeddedFont>
      <p:font typeface="Manrope Medium"/>
      <p:regular r:id="rId201326"/>
    </p:embeddedFont>
    <p:embeddedFont>
      <p:font typeface="Manrope SemiBold"/>
      <p:regular r:id="rId201327"/>
    </p:embeddedFont>
    <p:embeddedFont>
      <p:font typeface="Manrope Bold"/>
      <p:regular r:id="rId201328"/>
    </p:embeddedFont>
    <p:embeddedFont>
      <p:font typeface="Manrope Extra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Contact Center WFM Diagnostic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Workforce Management, Operations Analytics &amp; Business Intelligence Assessment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319909"/>
            <a:ext cx="2648248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3362399"/>
            <a:ext cx="293533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 WINDOW: 2026-07-20 TO 2026-07-26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644208" y="3319909"/>
            <a:ext cx="1396678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9264" y="3362399"/>
            <a:ext cx="16837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PREPARED: 2026-07-28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0234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Executive Summary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977950"/>
            <a:ext cx="472276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Forecast volume is directionally strong, but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service performance is below target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interval-level execution is uneven. A net staffing surplus of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+30.2 agents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coexists with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46 understaffing events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timing mismatch, not headcount shortage.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639267"/>
            <a:ext cx="4722763" cy="687512"/>
          </a:xfrm>
          <a:prstGeom prst="roundRect">
            <a:avLst>
              <a:gd name="adj" fmla="val 2658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2697" y="1765846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Service Level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2019002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72.1% vs. 80% target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2431405"/>
            <a:ext cx="4722763" cy="687512"/>
          </a:xfrm>
          <a:prstGeom prst="roundRect">
            <a:avLst>
              <a:gd name="adj" fmla="val 2658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2697" y="2557983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2697" y="2811140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39.3s weighted average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223543"/>
            <a:ext cx="4722763" cy="687512"/>
          </a:xfrm>
          <a:prstGeom prst="roundRect">
            <a:avLst>
              <a:gd name="adj" fmla="val 2658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2697" y="3350121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Forecast WAPE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2697" y="3603278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4.9% — strong aggregate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4015680"/>
            <a:ext cx="4722763" cy="687512"/>
          </a:xfrm>
          <a:prstGeom prst="roundRect">
            <a:avLst>
              <a:gd name="adj" fmla="val 2658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697" y="4142259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Staffing Gap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2697" y="4395415"/>
            <a:ext cx="446960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+30.2 agents average surplus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813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Executive Dashboard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09427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151,840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496119" y="1517228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Total Actual Calls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753270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7-day observed window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30489" y="1009427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4.9%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4630489" y="1517228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Forecast WAPE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30489" y="1753270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Lower is better; strong aggregate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2164928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13.4%</a:t>
            </a:r>
            <a:endParaRPr lang="en-US" sz="2950" dirty="0"/>
          </a:p>
        </p:txBody>
      </p:sp>
      <p:sp>
        <p:nvSpPr>
          <p:cNvPr id="10" name="Text 8"/>
          <p:cNvSpPr/>
          <p:nvPr/>
        </p:nvSpPr>
        <p:spPr>
          <a:xfrm>
            <a:off x="496119" y="2672730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Forecast MAPE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908771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Interval-level error volatile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30489" y="2164928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72.1%</a:t>
            </a:r>
            <a:endParaRPr lang="en-US" sz="2950" dirty="0"/>
          </a:p>
        </p:txBody>
      </p:sp>
      <p:sp>
        <p:nvSpPr>
          <p:cNvPr id="13" name="Text 11"/>
          <p:cNvSpPr/>
          <p:nvPr/>
        </p:nvSpPr>
        <p:spPr>
          <a:xfrm>
            <a:off x="4630489" y="2672730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Service Level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0489" y="2908771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Below 80% target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6119" y="3320430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39.3s</a:t>
            </a:r>
            <a:endParaRPr lang="en-US" sz="2950" dirty="0"/>
          </a:p>
        </p:txBody>
      </p:sp>
      <p:sp>
        <p:nvSpPr>
          <p:cNvPr id="16" name="Text 14"/>
          <p:cNvSpPr/>
          <p:nvPr/>
        </p:nvSpPr>
        <p:spPr>
          <a:xfrm>
            <a:off x="496119" y="3828231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4064273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Weighted speed of answer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30489" y="3320430"/>
            <a:ext cx="4017392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+30.2</a:t>
            </a:r>
            <a:endParaRPr lang="en-US" sz="2950" dirty="0"/>
          </a:p>
        </p:txBody>
      </p:sp>
      <p:sp>
        <p:nvSpPr>
          <p:cNvPr id="19" name="Text 17"/>
          <p:cNvSpPr/>
          <p:nvPr/>
        </p:nvSpPr>
        <p:spPr>
          <a:xfrm>
            <a:off x="4630489" y="3828231"/>
            <a:ext cx="401739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Mean Staffing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30489" y="4064273"/>
            <a:ext cx="401739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Scheduled minus required agents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6119" y="4336479"/>
            <a:ext cx="8151763" cy="402134"/>
          </a:xfrm>
          <a:prstGeom prst="roundRect">
            <a:avLst>
              <a:gd name="adj" fmla="val 42966"/>
            </a:avLst>
          </a:prstGeom>
          <a:solidFill>
            <a:srgbClr val="CDEFFE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4493865"/>
            <a:ext cx="143917" cy="11511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0272" y="4458742"/>
            <a:ext cx="811969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Overall health: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6.0/10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forecast quality good, service performance at risk. Data quality: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98.8/100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Daily Contact Volume — Actual vs Forecast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Volume Trend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 volume exceeded forecast on select days. A sharp weekend drop drives the moving average down. Forecast tracks the trend but interval-level errors remain material.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6253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Service Level Trend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02575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 level rose from 60% to 94% across the week but averaged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72.1%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below the 80% target. ASA fell from 65s to 15s, averaging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39.3s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vs. a ≤30s target.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8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Call Volume &amp; Data Quality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9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2622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Day-of-Week Volume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8943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Monday peaks at ~710 avg calls/interval; weekends are negligible. Use day-of-week weighting in schedules, but avoid seasonal conclusions until 13+ weeks are available.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1163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Peak Interval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97485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Highest observed average: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11:30 at ~694 calls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Daily median volume: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27,500 calls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(IQR: 14,500–30,000).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35702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93345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313 rows, 22 columns,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98.8/100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score. 65 nulls of 6,886 cells. No stable primary key — use date + interval.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788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Forecast Assessment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99393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Forecast vs. Actual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409105"/>
            <a:ext cx="2652861" cy="1145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Aggregate WAPE is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4.9%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but MAPE is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13.4%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low-volume intervals carry high relative error. Tracking signal of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121.4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indicates persistent under-forecasting. Forecast bias of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+1.9%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confirms actual exceeded forecast in aggregate.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667223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Error Profile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976935"/>
            <a:ext cx="2652861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MAE: 24.2 calls per interval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RMSE: 33.9 calls — large misses cost more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95% CI for signed error: −10.9% to −2.6%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754859"/>
            <a:ext cx="2652861" cy="838349"/>
          </a:xfrm>
          <a:prstGeom prst="roundRect">
            <a:avLst>
              <a:gd name="adj" fmla="val 22591"/>
            </a:avLst>
          </a:prstGeom>
          <a:solidFill>
            <a:srgbClr val="CDEF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25" y="3945062"/>
            <a:ext cx="157758" cy="1262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6289" y="3887614"/>
            <a:ext cx="2116485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error timeline to set intraday reforecast triggers and bias corrections.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817" y="1393403"/>
            <a:ext cx="5190753" cy="29197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229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Staffing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23652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Staffing Gap vs. Service Level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40731"/>
            <a:ext cx="2649364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Positive association: as staffing gap increases, service level improves. Correlation is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statistically significant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(r=0.62, p&lt;0.001) but causality is not proven.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536775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853854"/>
            <a:ext cx="2649364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required: 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308.4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mean scheduled: 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338.7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46 understaffed intervals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immediate action needed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262 overstaffed intervals</a:t>
            </a:r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redeployment windows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4215631"/>
            <a:ext cx="26493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 capacity across intervals </a:t>
            </a:r>
            <a:pPr algn="l" indent="0" marL="0">
              <a:lnSpc>
                <a:spcPct val="127000"/>
              </a:lnSpc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before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adding headcount.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3677" y="1389608"/>
            <a:ext cx="5188893" cy="2940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3182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AHT Distribution &amp; Service Level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49784"/>
            <a:ext cx="3905696" cy="2811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6947" y="123266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AHT Profile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6947" y="1588071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AHT: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431s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(median 433s, P95: 502s, P99: 546s). The right tail represents disproportionate capacity consumption — prioritize P95/P99 workflows for automation.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6947" y="2389808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Service Level Evidence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6947" y="2745209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Staffing gap / service level correlation: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r=0.62, p=1.05e-34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Supports interval rebalance, but validate with queue-level controls.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6947" y="3546946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Gaps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6947" y="3902348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occupancy, shrinkage, adherence, repeat-contact, or transfer fields. Integrate NICE/Verint/Five9 agent-state data to calculate certified KPIs.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37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Business Impact &amp; Risk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47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16,071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1889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Annual Hours at Risk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9618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Illustrative annualization of understaffed intervals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2447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$401K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1889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Annual Cost Exposure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1961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Based on $25/hour loaded labor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2447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7.7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18896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FTE Equivalent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1961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Directional estimate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29510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Risks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31425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Service level below target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High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Limited historical depth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High (1 week only)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Forecast volatility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Medium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Staffing hotspot masking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Medium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AHT tail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Medium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29510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Opportunities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331425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Interval staffing rebalance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0–30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Forecast bias correction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0–30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Intraday playbook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0–30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AHT tail reduction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31–90 days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Hierarchical forecast model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90+ days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8905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Executive Roadmap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064645" y="959197"/>
            <a:ext cx="14288" cy="2827213"/>
          </a:xfrm>
          <a:prstGeom prst="roundRect">
            <a:avLst>
              <a:gd name="adj" fmla="val 49998"/>
            </a:avLst>
          </a:prstGeom>
          <a:solidFill>
            <a:srgbClr val="B3D5E4"/>
          </a:solidFill>
          <a:ln/>
        </p:spPr>
      </p:sp>
      <p:sp>
        <p:nvSpPr>
          <p:cNvPr id="5" name="Shape 2"/>
          <p:cNvSpPr/>
          <p:nvPr/>
        </p:nvSpPr>
        <p:spPr>
          <a:xfrm>
            <a:off x="4189884" y="1091580"/>
            <a:ext cx="372070" cy="14288"/>
          </a:xfrm>
          <a:prstGeom prst="roundRect">
            <a:avLst>
              <a:gd name="adj" fmla="val 49998"/>
            </a:avLst>
          </a:prstGeom>
          <a:solidFill>
            <a:srgbClr val="B3D5E4"/>
          </a:solidFill>
          <a:ln/>
        </p:spPr>
      </p:sp>
      <p:sp>
        <p:nvSpPr>
          <p:cNvPr id="6" name="Shape 3"/>
          <p:cNvSpPr/>
          <p:nvPr/>
        </p:nvSpPr>
        <p:spPr>
          <a:xfrm>
            <a:off x="3925119" y="959197"/>
            <a:ext cx="279053" cy="279053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71627" y="98245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84886" y="1001837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0–30 Days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84886" y="1260797"/>
            <a:ext cx="3962995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interval staffing heatmap and intraday reforecast trigger. Apply day/interval forecast bias correction. Reduce understaffed intervals; improve SL and ASA.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89884" y="2168351"/>
            <a:ext cx="372070" cy="14288"/>
          </a:xfrm>
          <a:prstGeom prst="roundRect">
            <a:avLst>
              <a:gd name="adj" fmla="val 49998"/>
            </a:avLst>
          </a:prstGeom>
          <a:solidFill>
            <a:srgbClr val="B3D5E4"/>
          </a:solidFill>
          <a:ln/>
        </p:spPr>
      </p:sp>
      <p:sp>
        <p:nvSpPr>
          <p:cNvPr id="11" name="Shape 8"/>
          <p:cNvSpPr/>
          <p:nvPr/>
        </p:nvSpPr>
        <p:spPr>
          <a:xfrm>
            <a:off x="3925119" y="2035969"/>
            <a:ext cx="279053" cy="279053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1627" y="205922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684886" y="2078608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31–90 Days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84886" y="2337569"/>
            <a:ext cx="3962995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root-cause taxonomy for AHT and repeat contacts. Integrate schedule events and agent states for certified occupancy, shrinkage, and adherence.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89884" y="3245123"/>
            <a:ext cx="372070" cy="14288"/>
          </a:xfrm>
          <a:prstGeom prst="roundRect">
            <a:avLst>
              <a:gd name="adj" fmla="val 49998"/>
            </a:avLst>
          </a:prstGeom>
          <a:solidFill>
            <a:srgbClr val="B3D5E4"/>
          </a:solidFill>
          <a:ln/>
        </p:spPr>
      </p:sp>
      <p:sp>
        <p:nvSpPr>
          <p:cNvPr id="16" name="Shape 13"/>
          <p:cNvSpPr/>
          <p:nvPr/>
        </p:nvSpPr>
        <p:spPr>
          <a:xfrm>
            <a:off x="3925119" y="3112740"/>
            <a:ext cx="279053" cy="279053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71627" y="31359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684886" y="3155379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90+ Days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84886" y="3414340"/>
            <a:ext cx="396299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Deploy backtested hierarchical forecast model by queue and interval. Stand up executive dashboard with alerts and ROI tracking.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925119" y="3908450"/>
            <a:ext cx="4722763" cy="826145"/>
          </a:xfrm>
          <a:prstGeom prst="roundRect">
            <a:avLst>
              <a:gd name="adj" fmla="val 22523"/>
            </a:avLst>
          </a:prstGeom>
          <a:solidFill>
            <a:srgbClr val="CDEFFE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4083472"/>
            <a:ext cx="155004" cy="1239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328071" y="4047902"/>
            <a:ext cx="4195837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Key Limitations: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7-day window; no queue/skill/agent/transfer/repeat-contact/shrinkage fields. ML requires 13–26 weeks. Governance: daily intraday, weekly forecast, monthly benefits review.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2026-07-29T17:57:48Z</dcterms:created>
  <dcterms:modified xsi:type="dcterms:W3CDTF">2026-07-29T17:57:48Z</dcterms:modified>
</cp:coreProperties>
</file>