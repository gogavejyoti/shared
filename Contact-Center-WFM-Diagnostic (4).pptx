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 Center WFM Diagnostic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Workforce Management, Operations Analytics &amp; Business Intelligence Assessment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285117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362399"/>
            <a:ext cx="313826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2F2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WINDOW: 2026-07-20 TO 2026-07-26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847136" y="3319909"/>
            <a:ext cx="146625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2191" y="3362399"/>
            <a:ext cx="175334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2F2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PREPARED: 2026-07-28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3547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928688"/>
            <a:ext cx="472276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volume is directionally strong, but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performance is below target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interval-level execution is uneven. A net staffing surplus of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+30.2 agents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coexists with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46 understaffing events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timing mismatch, not headcount shortage.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747614"/>
            <a:ext cx="4722763" cy="672405"/>
          </a:xfrm>
          <a:prstGeom prst="roundRect">
            <a:avLst>
              <a:gd name="adj" fmla="val 747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0464" y="1871960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0464" y="2119313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72.1% vs. 80% target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520925"/>
            <a:ext cx="4722763" cy="672405"/>
          </a:xfrm>
          <a:prstGeom prst="roundRect">
            <a:avLst>
              <a:gd name="adj" fmla="val 747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0464" y="2645271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0464" y="2892623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39.3s weighted average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3294236"/>
            <a:ext cx="4722763" cy="672405"/>
          </a:xfrm>
          <a:prstGeom prst="roundRect">
            <a:avLst>
              <a:gd name="adj" fmla="val 747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0464" y="3418582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WAPE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0464" y="3665934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 — strong aggregate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067547"/>
            <a:ext cx="4722763" cy="672405"/>
          </a:xfrm>
          <a:prstGeom prst="roundRect">
            <a:avLst>
              <a:gd name="adj" fmla="val 747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0464" y="4191893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Staffing Gap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0464" y="4439245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+30.2 agents average surplus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813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Dashboard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09427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151,840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496119" y="1517228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Actual Calls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753270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observed window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30489" y="1009427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4.9%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4630489" y="1517228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WAPE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30489" y="1753270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is better; strong aggregate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2164928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13.4%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496119" y="2672730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MAPE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908771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Interval-level error volatile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30489" y="2164928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72.1%</a:t>
            </a:r>
            <a:endParaRPr lang="en-US" sz="2950" dirty="0"/>
          </a:p>
        </p:txBody>
      </p:sp>
      <p:sp>
        <p:nvSpPr>
          <p:cNvPr id="13" name="Text 11"/>
          <p:cNvSpPr/>
          <p:nvPr/>
        </p:nvSpPr>
        <p:spPr>
          <a:xfrm>
            <a:off x="4630489" y="2672730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0489" y="2908771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80% target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119" y="3320430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39.3s</a:t>
            </a:r>
            <a:endParaRPr lang="en-US" sz="2950" dirty="0"/>
          </a:p>
        </p:txBody>
      </p:sp>
      <p:sp>
        <p:nvSpPr>
          <p:cNvPr id="16" name="Text 14"/>
          <p:cNvSpPr/>
          <p:nvPr/>
        </p:nvSpPr>
        <p:spPr>
          <a:xfrm>
            <a:off x="496119" y="3828231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4064273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speed of answer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30489" y="3320430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+30.2</a:t>
            </a:r>
            <a:endParaRPr lang="en-US" sz="2950" dirty="0"/>
          </a:p>
        </p:txBody>
      </p:sp>
      <p:sp>
        <p:nvSpPr>
          <p:cNvPr id="19" name="Text 17"/>
          <p:cNvSpPr/>
          <p:nvPr/>
        </p:nvSpPr>
        <p:spPr>
          <a:xfrm>
            <a:off x="4630489" y="3828231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Mean Staffing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0489" y="4064273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minus required agents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6119" y="4336479"/>
            <a:ext cx="8151763" cy="402134"/>
          </a:xfrm>
          <a:prstGeom prst="roundRect">
            <a:avLst>
              <a:gd name="adj" fmla="val 12030"/>
            </a:avLst>
          </a:prstGeom>
          <a:solidFill>
            <a:srgbClr val="3D3D4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4493865"/>
            <a:ext cx="143917" cy="11511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0272" y="4458742"/>
            <a:ext cx="811969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health: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6.0/10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forecast quality good, service performance at risk. Data quality: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98.8/100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Daily Contact Volume — Actual vs Forecast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 Trend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volume exceeded forecast on select days. A sharp weekend drop drives the moving average down. Forecast tracks the trend but interval-level errors remain material.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6253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 Trend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02575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level rose from 60% to 94% across the week but averaged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72.1%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below the 80% target. ASA fell from 65s to 15s, averaging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39.3s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a ≤30s target.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8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Volume &amp; Data Quality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9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2622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Day-of-Week Volume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8943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peaks at ~710 avg calls/interval; weekends are negligible. Use day-of-week weighting in schedules, but avoid seasonal conclusions until 13+ weeks are available.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1163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Interval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97485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observed average: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11:30 at ~694 calls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Daily median volume: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27,500 calls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(IQR: 14,500–30,000).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35702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93345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313 rows, 22 columns,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98.8/100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score. 65 nulls of 6,886 cells. No stable primary key — use date + interval.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48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Assessment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88827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vs. Actual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83804"/>
            <a:ext cx="2659931" cy="108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WAPE is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4.9%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but MAPE is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13.4%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low-volume intervals carry high relative error. Tracking signal of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121.4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indicates persistent under-forecasting. Forecast bias of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+1.9%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confirms actual exceeded forecast in aggregate.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575620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Profile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2870597"/>
            <a:ext cx="2659931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MAE: 24.2 calls per interval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RMSE: 33.9 calls — large misses cost more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CI for signed error: −10.9% to −2.6%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786336"/>
            <a:ext cx="2659931" cy="792882"/>
          </a:xfrm>
          <a:prstGeom prst="roundRect">
            <a:avLst>
              <a:gd name="adj" fmla="val 6454"/>
            </a:avLst>
          </a:prstGeom>
          <a:solidFill>
            <a:srgbClr val="3D3D4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34" y="3965302"/>
            <a:ext cx="152251" cy="121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2001" y="3910980"/>
            <a:ext cx="214223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error timeline to set intraday reforecast triggers and bias corrections.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21" y="1379562"/>
            <a:ext cx="5194622" cy="2921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229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Staffing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23652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Staffing Gap vs. Service Level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40731"/>
            <a:ext cx="2649364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association: as staffing gap increases, service level improves. Correlation is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statistically significant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(r=0.62, p&lt;0.001) but causality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536775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853854"/>
            <a:ext cx="2649364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required: 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308.4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mean scheduled: 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338.7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46 understaffed intervals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immediate action needed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262 overstaffed intervals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redeployment windows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4215631"/>
            <a:ext cx="26493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capacity across intervals </a:t>
            </a:r>
            <a:pPr algn="l" indent="0" marL="0">
              <a:lnSpc>
                <a:spcPct val="127000"/>
              </a:lnSpc>
              <a:buNone/>
            </a:pPr>
            <a:r>
              <a:rPr lang="en-US" sz="100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adding headcount.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3677" y="1389608"/>
            <a:ext cx="5188893" cy="2940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213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AHT Distribution &amp; Service Level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73510"/>
            <a:ext cx="3908375" cy="2813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4269" y="1156841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AHT Profile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4269" y="1504355"/>
            <a:ext cx="390837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AHT: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431s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(median 433s, P95: 502s, P99: 546s). The right tail represents disproportionate capacity consumption — prioritize P95/P99 workflows for automation.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4269" y="2502619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 Evidence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4269" y="2850133"/>
            <a:ext cx="39083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gap / service level correlation: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r=0.62, p=1.05e-34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Supports interval rebalance, but validate with queue-level controls.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4269" y="3632076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Gaps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4269" y="3979590"/>
            <a:ext cx="39083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occupancy, shrinkage, adherence, repeat-contact, or transfer fields. Integrate NICE/Verint/Five9 agent-state data to calculate certified KPIs.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3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Impact &amp; Risk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47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16,071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1889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Annual Hours at Risk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961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annualization of understaffed intervals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2447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$401K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1889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Annual Cost Exposure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1961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$25/hour loaded labor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2447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1889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FTE Equivalent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1961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Directional estimate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29510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Risks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31425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 below target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High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historical depth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High (1 week only)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volatility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Medium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Staffing hotspot masking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Medium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AHT tail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Medium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29510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Opportunities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331425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Interval staffing rebalance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0–30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bias correction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0–30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Intraday playbook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0–30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AHT tail reduction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31–90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Hierarchical forecast model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90+ days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5758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2F2F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Roadmap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062115" y="1003474"/>
            <a:ext cx="14288" cy="2753171"/>
          </a:xfrm>
          <a:prstGeom prst="roundRect">
            <a:avLst>
              <a:gd name="adj" fmla="val 49998"/>
            </a:avLst>
          </a:prstGeom>
          <a:solidFill>
            <a:srgbClr val="56565B"/>
          </a:solidFill>
          <a:ln/>
        </p:spPr>
      </p:sp>
      <p:sp>
        <p:nvSpPr>
          <p:cNvPr id="5" name="Shape 2"/>
          <p:cNvSpPr/>
          <p:nvPr/>
        </p:nvSpPr>
        <p:spPr>
          <a:xfrm>
            <a:off x="4184861" y="1133326"/>
            <a:ext cx="365447" cy="14288"/>
          </a:xfrm>
          <a:prstGeom prst="roundRect">
            <a:avLst>
              <a:gd name="adj" fmla="val 49998"/>
            </a:avLst>
          </a:prstGeom>
          <a:solidFill>
            <a:srgbClr val="56565B"/>
          </a:solidFill>
          <a:ln/>
        </p:spPr>
      </p:sp>
      <p:sp>
        <p:nvSpPr>
          <p:cNvPr id="6" name="Shape 3"/>
          <p:cNvSpPr/>
          <p:nvPr/>
        </p:nvSpPr>
        <p:spPr>
          <a:xfrm>
            <a:off x="3925081" y="1003474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70734" y="1026282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71268" y="1045294"/>
            <a:ext cx="397661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0–30 Days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71268" y="1298451"/>
            <a:ext cx="397661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interval staffing heatmap and intraday reforecast trigger. Apply day/interval forecast bias correction. Reduce understaffed intervals; improve SL and ASA.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84861" y="2181225"/>
            <a:ext cx="365447" cy="14288"/>
          </a:xfrm>
          <a:prstGeom prst="roundRect">
            <a:avLst>
              <a:gd name="adj" fmla="val 49998"/>
            </a:avLst>
          </a:prstGeom>
          <a:solidFill>
            <a:srgbClr val="56565B"/>
          </a:solidFill>
          <a:ln/>
        </p:spPr>
      </p:sp>
      <p:sp>
        <p:nvSpPr>
          <p:cNvPr id="11" name="Shape 8"/>
          <p:cNvSpPr/>
          <p:nvPr/>
        </p:nvSpPr>
        <p:spPr>
          <a:xfrm>
            <a:off x="3925081" y="2051372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0734" y="2074180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71268" y="2093193"/>
            <a:ext cx="397661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31–90 Days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71268" y="2346350"/>
            <a:ext cx="397661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root-cause taxonomy for AHT and repeat contacts. Integrate schedule events and agent states for certified occupancy, shrinkage, and adherence.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84861" y="3229124"/>
            <a:ext cx="365447" cy="14288"/>
          </a:xfrm>
          <a:prstGeom prst="roundRect">
            <a:avLst>
              <a:gd name="adj" fmla="val 49998"/>
            </a:avLst>
          </a:prstGeom>
          <a:solidFill>
            <a:srgbClr val="56565B"/>
          </a:solidFill>
          <a:ln/>
        </p:spPr>
      </p:sp>
      <p:sp>
        <p:nvSpPr>
          <p:cNvPr id="16" name="Shape 13"/>
          <p:cNvSpPr/>
          <p:nvPr/>
        </p:nvSpPr>
        <p:spPr>
          <a:xfrm>
            <a:off x="3925081" y="309927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70734" y="312207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71268" y="3141092"/>
            <a:ext cx="397661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90+ Days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71268" y="3394249"/>
            <a:ext cx="397661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backtested hierarchical forecast model by queue and interval. Stand up executive dashboard with alerts and ROI tracking.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25119" y="3874368"/>
            <a:ext cx="4722763" cy="803300"/>
          </a:xfrm>
          <a:prstGeom prst="roundRect">
            <a:avLst>
              <a:gd name="adj" fmla="val 6370"/>
            </a:avLst>
          </a:prstGeom>
          <a:solidFill>
            <a:srgbClr val="3D3D4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934" y="4043809"/>
            <a:ext cx="152251" cy="1218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321001" y="4009430"/>
            <a:ext cx="420506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Limitations: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7-day window; no queue/skill/agent/transfer/repeat-contact/shrinkage fields. ML requires 13–26 weeks. Governance: daily intraday, weekly forecast, monthly benefits review.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2026-07-29T17:55:33Z</dcterms:created>
  <dcterms:modified xsi:type="dcterms:W3CDTF">2026-07-29T17:55:33Z</dcterms:modified>
</cp:coreProperties>
</file>